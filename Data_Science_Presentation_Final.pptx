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7" r:id="rId6"/>
    <p:sldId id="258" r:id="rId7"/>
    <p:sldId id="259" r:id="rId8"/>
    <p:sldId id="263" r:id="rId9"/>
    <p:sldId id="264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64EF6-958F-FCCA-7B4C-04491DFDF129}" v="31" dt="2025-12-02T03:40:18.847"/>
    <p1510:client id="{9328F268-C7A2-4777-AD55-BD7ADD642039}" v="5" dt="2025-12-10T03:07:25.862"/>
    <p1510:client id="{FF060EFB-A649-88FE-EE34-CCF9B79A3D82}" v="144" dt="2025-12-03T09:36:03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012197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14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17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16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528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503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20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25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8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82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61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06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709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04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25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51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0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What Causes </a:t>
            </a:r>
            <a:r>
              <a:rPr dirty="0"/>
              <a:t>Student Stress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/>
              <a:t>Tyler deLellis </a:t>
            </a:r>
            <a:r>
              <a:rPr sz="2400" dirty="0"/>
              <a:t>&amp; </a:t>
            </a:r>
            <a:r>
              <a:rPr lang="en-US" sz="2400" dirty="0"/>
              <a:t>Ruiming Zeng</a:t>
            </a:r>
            <a:endParaRPr sz="2400" dirty="0"/>
          </a:p>
          <a:p>
            <a:pPr algn="ctr"/>
            <a:r>
              <a:rPr lang="en-US" sz="2400" dirty="0"/>
              <a:t>Data Science</a:t>
            </a:r>
            <a:r>
              <a:rPr sz="2400" dirty="0"/>
              <a:t> • </a:t>
            </a:r>
            <a:r>
              <a:rPr lang="en-US" sz="2400" dirty="0"/>
              <a:t>12/3/25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on Student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- Student stress affects academic performance and well-being</a:t>
            </a:r>
          </a:p>
          <a:p>
            <a:r>
              <a:rPr dirty="0"/>
              <a:t>- High stress levels are linked to anxiety, burnout, and poor grades</a:t>
            </a:r>
            <a:endParaRPr lang="en-US" dirty="0"/>
          </a:p>
          <a:p>
            <a:r>
              <a:rPr lang="en-US" dirty="0"/>
              <a:t>-60 percent of students report being stressed everyday</a:t>
            </a:r>
          </a:p>
          <a:p>
            <a:r>
              <a:rPr lang="en-US" dirty="0"/>
              <a:t>-1 in 5 college students are stressed all or most of the time</a:t>
            </a:r>
            <a:endParaRPr dirty="0"/>
          </a:p>
          <a:p>
            <a:r>
              <a:rPr dirty="0"/>
              <a:t>- Identifying major stressors helps improve support systems</a:t>
            </a:r>
          </a:p>
          <a:p>
            <a:r>
              <a:rPr dirty="0"/>
              <a:t>- Goal: Determine which factors contribute most to student stress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Dataset: S</a:t>
            </a:r>
            <a:r>
              <a:rPr lang="en-US" dirty="0"/>
              <a:t>tudent Stress Monitoring Dataset </a:t>
            </a:r>
            <a:r>
              <a:rPr dirty="0"/>
              <a:t>(Kaggle)</a:t>
            </a:r>
          </a:p>
          <a:p>
            <a:r>
              <a:rPr dirty="0"/>
              <a:t>- 20+ stress-related features</a:t>
            </a:r>
          </a:p>
          <a:p>
            <a:r>
              <a:rPr lang="en-US" dirty="0"/>
              <a:t>-843 college students filled out the survey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Categories:</a:t>
            </a:r>
          </a:p>
          <a:p>
            <a:r>
              <a:rPr dirty="0"/>
              <a:t>• Psychological</a:t>
            </a:r>
            <a:r>
              <a:rPr lang="en-US" dirty="0"/>
              <a:t> (anxiety, depression, self esteem)</a:t>
            </a:r>
            <a:endParaRPr dirty="0"/>
          </a:p>
          <a:p>
            <a:r>
              <a:rPr dirty="0"/>
              <a:t>• Physiological</a:t>
            </a:r>
            <a:r>
              <a:rPr lang="en-US" dirty="0"/>
              <a:t> (headaches, blood pressure, sleep quality)</a:t>
            </a:r>
            <a:endParaRPr dirty="0"/>
          </a:p>
          <a:p>
            <a:r>
              <a:rPr dirty="0"/>
              <a:t>• Environmental</a:t>
            </a:r>
            <a:r>
              <a:rPr lang="en-US" dirty="0"/>
              <a:t> (living conditions, safety, basic needs)</a:t>
            </a:r>
            <a:endParaRPr dirty="0"/>
          </a:p>
          <a:p>
            <a:r>
              <a:rPr dirty="0"/>
              <a:t>• Academic</a:t>
            </a:r>
            <a:r>
              <a:rPr lang="en-US" dirty="0"/>
              <a:t> (study load, academic performance, career concerns)</a:t>
            </a:r>
            <a:endParaRPr dirty="0"/>
          </a:p>
          <a:p>
            <a:r>
              <a:rPr dirty="0"/>
              <a:t>• Social</a:t>
            </a:r>
            <a:r>
              <a:rPr lang="en-US" dirty="0"/>
              <a:t> (peer pressure, social support, extracurricular activities)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Average Stress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625415"/>
            <a:ext cx="7704667" cy="333281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Key Insights:</a:t>
            </a:r>
          </a:p>
          <a:p>
            <a:r>
              <a:rPr lang="en-US" dirty="0"/>
              <a:t>- Self-esteem shows highest average stress</a:t>
            </a:r>
          </a:p>
          <a:p>
            <a:r>
              <a:rPr lang="en-US" dirty="0"/>
              <a:t>- Depression and anxiety follow closely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graph with text overlay&#10;&#10;AI-generated content may be incorrect.">
            <a:extLst>
              <a:ext uri="{FF2B5EF4-FFF2-40B4-BE49-F238E27FC236}">
                <a16:creationId xmlns:a16="http://schemas.microsoft.com/office/drawing/2014/main" id="{939AACFA-6E43-E0B0-DB7B-4CC0C473D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724" y="3757454"/>
            <a:ext cx="5340444" cy="3099342"/>
          </a:xfrm>
          <a:prstGeom prst="rect">
            <a:avLst/>
          </a:prstGeom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id="{198513C3-2F7B-A29C-D814-4EAE6BA55E7E}"/>
              </a:ext>
            </a:extLst>
          </p:cNvPr>
          <p:cNvSpPr/>
          <p:nvPr/>
        </p:nvSpPr>
        <p:spPr>
          <a:xfrm>
            <a:off x="1605567" y="6436623"/>
            <a:ext cx="545756" cy="421376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745D4-6197-24A7-A438-8063A785A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Stressors in Each Category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93C38-66D4-F737-F9EC-6C565794C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923" y="2035277"/>
            <a:ext cx="7978877" cy="3964539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Psychological: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Self-esteem</a:t>
            </a:r>
            <a:r>
              <a:rPr lang="en-US" dirty="0"/>
              <a:t> had the highest stress score overall, making it the strongest psychological stressor.</a:t>
            </a:r>
          </a:p>
          <a:p>
            <a:r>
              <a:rPr lang="en-US" b="1" dirty="0"/>
              <a:t>Physiological: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Breathing problems</a:t>
            </a:r>
            <a:r>
              <a:rPr lang="en-US" dirty="0"/>
              <a:t> were the most significant physical stress factor.</a:t>
            </a:r>
          </a:p>
          <a:p>
            <a:r>
              <a:rPr lang="en-US" b="1" dirty="0"/>
              <a:t>Environmental: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Basic needs</a:t>
            </a:r>
            <a:r>
              <a:rPr lang="en-US" dirty="0"/>
              <a:t> (food security, housing, safety) ranked as the top environmental stressor.</a:t>
            </a:r>
          </a:p>
          <a:p>
            <a:r>
              <a:rPr lang="en-US" b="1" dirty="0"/>
              <a:t>Academic: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Academic performance</a:t>
            </a:r>
            <a:r>
              <a:rPr lang="en-US" dirty="0"/>
              <a:t> was the highest academic stressor, showing strong pressure related to grades.</a:t>
            </a:r>
          </a:p>
          <a:p>
            <a:r>
              <a:rPr lang="en-US" b="1" dirty="0"/>
              <a:t>Social: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/>
              <a:t>Extracurricular activities</a:t>
            </a:r>
            <a:r>
              <a:rPr lang="en-US" dirty="0"/>
              <a:t> produced the highest stress score in the social category.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975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E452DD-8E13-F288-D6A9-895B8CF1F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702" y="587407"/>
            <a:ext cx="5390596" cy="502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2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– Max Stress Level 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639792"/>
            <a:ext cx="7704667" cy="333281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dirty="0"/>
              <a:t>- Sleep quality has the most maximum-stress votes</a:t>
            </a:r>
          </a:p>
          <a:p>
            <a:r>
              <a:rPr dirty="0"/>
              <a:t>- Basic needs and career concerns also rate high</a:t>
            </a:r>
          </a:p>
        </p:txBody>
      </p:sp>
      <p:pic>
        <p:nvPicPr>
          <p:cNvPr id="8" name="Picture 7" descr="A green pie chart with white text&#10;&#10;AI-generated content may be incorrect.">
            <a:extLst>
              <a:ext uri="{FF2B5EF4-FFF2-40B4-BE49-F238E27FC236}">
                <a16:creationId xmlns:a16="http://schemas.microsoft.com/office/drawing/2014/main" id="{94BDF03F-1F8E-B52F-D427-ED2DDD7F5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308" y="3349620"/>
            <a:ext cx="5318073" cy="3507136"/>
          </a:xfrm>
          <a:prstGeom prst="rect">
            <a:avLst/>
          </a:prstGeom>
        </p:spPr>
      </p:pic>
      <p:sp>
        <p:nvSpPr>
          <p:cNvPr id="5" name="Right Triangle 4">
            <a:extLst>
              <a:ext uri="{FF2B5EF4-FFF2-40B4-BE49-F238E27FC236}">
                <a16:creationId xmlns:a16="http://schemas.microsoft.com/office/drawing/2014/main" id="{A8D92191-7397-316F-1857-D8578EFE4FE6}"/>
              </a:ext>
            </a:extLst>
          </p:cNvPr>
          <p:cNvSpPr/>
          <p:nvPr/>
        </p:nvSpPr>
        <p:spPr>
          <a:xfrm>
            <a:off x="1852184" y="6637217"/>
            <a:ext cx="287623" cy="222075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Top Stressors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Overall Top Stressors:</a:t>
            </a:r>
          </a:p>
          <a:p>
            <a:r>
              <a:rPr dirty="0"/>
              <a:t>1. Self-esteem</a:t>
            </a:r>
          </a:p>
          <a:p>
            <a:r>
              <a:rPr dirty="0"/>
              <a:t>2. Depression</a:t>
            </a:r>
          </a:p>
          <a:p>
            <a:r>
              <a:rPr dirty="0"/>
              <a:t>3. Anxiety level</a:t>
            </a:r>
          </a:p>
          <a:p>
            <a:r>
              <a:rPr dirty="0"/>
              <a:t>4. Sleep quality</a:t>
            </a:r>
          </a:p>
          <a:p>
            <a:r>
              <a:rPr dirty="0"/>
              <a:t>5. Future career concerns</a:t>
            </a:r>
          </a:p>
          <a:p>
            <a:endParaRPr/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 descr="A graph with blue lines&#10;&#10;AI-generated content may be incorrect.">
            <a:extLst>
              <a:ext uri="{FF2B5EF4-FFF2-40B4-BE49-F238E27FC236}">
                <a16:creationId xmlns:a16="http://schemas.microsoft.com/office/drawing/2014/main" id="{ED0A5E0A-4312-F2A3-774D-4675810CA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448" y="1998687"/>
            <a:ext cx="4024648" cy="45300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- Psychological and academic stressors are the strongest overall</a:t>
            </a:r>
          </a:p>
          <a:p>
            <a:r>
              <a:rPr dirty="0"/>
              <a:t>- Sleep quality and basic needs significantly affect severe stress</a:t>
            </a:r>
          </a:p>
          <a:p>
            <a:r>
              <a:rPr dirty="0"/>
              <a:t>- Findings highlight a need for better mental health and academic support</a:t>
            </a:r>
          </a:p>
          <a:p>
            <a:r>
              <a:rPr dirty="0"/>
              <a:t>- Future work: demographic analysis or </a:t>
            </a:r>
            <a:r>
              <a:t>predictive modeling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80E55F37B5D647B434FEDD517A9C1E" ma:contentTypeVersion="9" ma:contentTypeDescription="Create a new document." ma:contentTypeScope="" ma:versionID="519755a628a7a196e93be6a6892ee423">
  <xsd:schema xmlns:xsd="http://www.w3.org/2001/XMLSchema" xmlns:xs="http://www.w3.org/2001/XMLSchema" xmlns:p="http://schemas.microsoft.com/office/2006/metadata/properties" xmlns:ns3="33d9edf5-e246-4f2b-b030-6050d17f2c1d" xmlns:ns4="fc5feccd-c297-4f59-8a90-e829246af79b" targetNamespace="http://schemas.microsoft.com/office/2006/metadata/properties" ma:root="true" ma:fieldsID="4d32a7f4a8e688c51f167800bfd83f96" ns3:_="" ns4:_="">
    <xsd:import namespace="33d9edf5-e246-4f2b-b030-6050d17f2c1d"/>
    <xsd:import namespace="fc5feccd-c297-4f59-8a90-e829246af79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d9edf5-e246-4f2b-b030-6050d17f2c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5feccd-c297-4f59-8a90-e829246af7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3d9edf5-e246-4f2b-b030-6050d17f2c1d" xsi:nil="true"/>
  </documentManagement>
</p:properties>
</file>

<file path=customXml/itemProps1.xml><?xml version="1.0" encoding="utf-8"?>
<ds:datastoreItem xmlns:ds="http://schemas.openxmlformats.org/officeDocument/2006/customXml" ds:itemID="{8B449505-5E9F-49F5-B5D4-AFD1C9FFC1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d9edf5-e246-4f2b-b030-6050d17f2c1d"/>
    <ds:schemaRef ds:uri="fc5feccd-c297-4f59-8a90-e829246af7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820FB4-B96D-41A8-A16A-75D7C93252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71A212-840E-4A65-8EAB-7E20B418CDA8}">
  <ds:schemaRefs>
    <ds:schemaRef ds:uri="fc5feccd-c297-4f59-8a90-e829246af79b"/>
    <ds:schemaRef ds:uri="http://schemas.microsoft.com/office/2006/metadata/properties"/>
    <ds:schemaRef ds:uri="http://schemas.microsoft.com/office/2006/documentManagement/types"/>
    <ds:schemaRef ds:uri="http://purl.org/dc/elements/1.1/"/>
    <ds:schemaRef ds:uri="33d9edf5-e246-4f2b-b030-6050d17f2c1d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84</TotalTime>
  <Words>361</Words>
  <Application>Microsoft Office PowerPoint</Application>
  <PresentationFormat>On-screen Show (4:3)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What Causes Student Stress?</vt:lpstr>
      <vt:lpstr>Background on Student Stress</vt:lpstr>
      <vt:lpstr>Dataset Overview</vt:lpstr>
      <vt:lpstr>Results – Average Stress Scores</vt:lpstr>
      <vt:lpstr>Top Stressors in Each Category</vt:lpstr>
      <vt:lpstr>PowerPoint Presentation</vt:lpstr>
      <vt:lpstr>Results – Max Stress Level (5)</vt:lpstr>
      <vt:lpstr>Combined Top Stressors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Causes Student Stress?</dc:title>
  <dc:subject/>
  <dc:creator>Tyler deLellis</dc:creator>
  <cp:keywords/>
  <dc:description>generated using python-pptx</dc:description>
  <cp:lastModifiedBy>Delellis, Tyler A</cp:lastModifiedBy>
  <cp:revision>107</cp:revision>
  <dcterms:created xsi:type="dcterms:W3CDTF">2013-01-27T09:14:16Z</dcterms:created>
  <dcterms:modified xsi:type="dcterms:W3CDTF">2025-12-10T03:07:25Z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0x010100D580E55F37B5D647B434FEDD517A9C1E</vt:lpwstr>
  </property>
</Properties>
</file>